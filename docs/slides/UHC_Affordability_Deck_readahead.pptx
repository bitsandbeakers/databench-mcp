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3D3C38"/>
                </a:solidFill>
                <a:latin typeface="Arial"/>
              </a:rPr>
              <a:t>Hospital Pricing &amp; Network Affordability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3D3C38"/>
                </a:solidFill>
                <a:latin typeface="Arial"/>
              </a:rPr>
              <a:t>What the same care costs across 3,236 hospitals — and what a health plan can do about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2926080" cy="91440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D3C38"/>
                </a:solidFill>
                <a:latin typeface="Arial"/>
              </a:rPr>
              <a:t>Medicare hospital cost data · an AI-enabled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The same care can cost up to 16× more — and the gap is mostly pricing, not better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Wildly different prices. </a:t>
            </a:r>
            <a:r>
              <a:rPr sz="1700" b="0">
                <a:solidFill>
                  <a:srgbClr val="3D3C38"/>
                </a:solidFill>
                <a:latin typeface="Arial"/>
              </a:rPr>
              <a:t>The same hospital treatment can cost up to 16× more at one hospital than another.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It's how they price, not what care costs. </a:t>
            </a:r>
            <a:r>
              <a:rPr sz="1700" b="0">
                <a:solidFill>
                  <a:srgbClr val="3D3C38"/>
                </a:solidFill>
                <a:latin typeface="Arial"/>
              </a:rPr>
              <a:t>For-profit hospitals charge ~45% more — yet Medicare pays them slightly less. So it's a pricing choice, not higher costs.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Paying more doesn't buy better care. </a:t>
            </a:r>
            <a:r>
              <a:rPr sz="1700" b="0">
                <a:solidFill>
                  <a:srgbClr val="3D3C38"/>
                </a:solidFill>
                <a:latin typeface="Arial"/>
              </a:rPr>
              <a:t>Price and hospital quality ratings have no relationship — and the most expensive hospitals tend to rate the worst.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The opportunity. </a:t>
            </a:r>
            <a:r>
              <a:rPr sz="1700" b="0">
                <a:solidFill>
                  <a:srgbClr val="3D3C38"/>
                </a:solidFill>
                <a:latin typeface="Arial"/>
              </a:rPr>
              <a:t>Guide members to hospitals that are both cheaper and higher-quality (738 qualify).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700" b="1">
                <a:solidFill>
                  <a:srgbClr val="3D3C38"/>
                </a:solidFill>
                <a:latin typeface="Arial"/>
              </a:rPr>
              <a:t>The size. </a:t>
            </a:r>
            <a:r>
              <a:rPr sz="1700" b="0">
                <a:solidFill>
                  <a:srgbClr val="3D3C38"/>
                </a:solidFill>
                <a:latin typeface="Arial"/>
              </a:rPr>
              <a:t>On for-profit hospitals alone, the overcharge is roughly $6–26 billion.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06440"/>
            <a:ext cx="11064240" cy="731520"/>
          </a:xfrm>
          <a:prstGeom prst="roundRect">
            <a:avLst/>
          </a:prstGeom>
          <a:solidFill>
            <a:srgbClr val="ED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D3C38"/>
                </a:solidFill>
                <a:latin typeface="Arial"/>
              </a:rPr>
              <a:t>RECOMMENDATION:  </a:t>
            </a:r>
            <a:r>
              <a:rPr sz="1500" b="0">
                <a:solidFill>
                  <a:srgbClr val="3D3C38"/>
                </a:solidFill>
                <a:latin typeface="Arial"/>
              </a:rPr>
              <a:t>build the network around hospitals that are both affordable and high-quality — start where a cheaper, better option is already nearby.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FINDING 1 · PRICE VARIES WILDLY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The same procedure, very different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which treatments vary most in price between hospitals?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the same treatment, the priciest hospitals charge at least 3× more than the cheapest — true for 94% of common treatments.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most extreme: a hip/knee replacement ran from about $20k to $316k — same surgery.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It's the hospital you walk into, not the care, that drives the difference.</a:t>
            </a:r>
          </a:p>
        </p:txBody>
      </p:sp>
      <p:pic>
        <p:nvPicPr>
          <p:cNvPr id="6" name="Picture 5" descr="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WHY — 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It's a pricing choice, not a cost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For-profit hospitals charge about 45% more than others for comparable care — even after accounting for how sick patients are, where the hospital is, and what kind of hospital it is.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tell: </a:t>
            </a:r>
            <a:r>
              <a:rPr sz="1500" b="0">
                <a:solidFill>
                  <a:srgbClr val="3D3C38"/>
                </a:solidFill>
                <a:latin typeface="Arial"/>
              </a:rPr>
              <a:t>Medicare pays those same hospitals slightly LESS, not more.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Medicare's payment already adjusts for local labor costs — so 'things just cost more here' can't explain the gap.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This only hurts an insurer that pays a share of the hospital's list price.</a:t>
            </a:r>
          </a:p>
        </p:txBody>
      </p:sp>
      <p:pic>
        <p:nvPicPr>
          <p:cNvPr id="6" name="Picture 5" descr="fals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FINDING 2 · GEOGRAPHY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Where you are matters — a 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do prices follow a regional pattern?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Yes — the most expensive states charge about 6× more than the cheapest for the same care.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Maryland, which regulates hospital rates, is the cheapest; Nevada, California, New Jersey and Florida are the priciest.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Same treatment, very different price depending on the market.</a:t>
            </a:r>
          </a:p>
        </p:txBody>
      </p:sp>
      <p:pic>
        <p:nvPicPr>
          <p:cNvPr id="6" name="Picture 5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COMPARING FAIRLY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I group hospitals by the kind of care they actually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sorted all 3,236 hospitals into families by the mix of care they deliver — academic medical centers, community hospitals, surgical specialty centers, rural hospitals, and so 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groups came out of the data automatically — not hand-picked.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Why it matters: </a:t>
            </a:r>
            <a:r>
              <a:rPr sz="1500" b="0">
                <a:solidFill>
                  <a:srgbClr val="3D3C38"/>
                </a:solidFill>
                <a:latin typeface="Arial"/>
              </a:rPr>
              <a:t>I compare each hospital only to its true peers, so 'our patients are just sicker' doesn't hold up.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▶ Live demo — switch to the dashboard: </a:t>
            </a:r>
            <a:r>
              <a:rPr sz="1500" b="0">
                <a:solidFill>
                  <a:srgbClr val="3D3C38"/>
                </a:solidFill>
                <a:latin typeface="Arial"/>
              </a:rPr>
              <a:t>pick a hospital type; toggle the ✕ avoidances on/off.</a:t>
            </a:r>
          </a:p>
        </p:txBody>
      </p:sp>
      <p:pic>
        <p:nvPicPr>
          <p:cNvPr id="6" name="Picture 5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OVERCHARGERS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Which hospitals charge far more than their peers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flagged hospitals that charge far above their true peers — in both hospital stays and outpatient care.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same names show up in both: a handful of for-profit chains, plus a few high-end academic centers.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They cluster: </a:t>
            </a:r>
            <a:r>
              <a:rPr sz="1500" b="0">
                <a:solidFill>
                  <a:srgbClr val="3D3C38"/>
                </a:solidFill>
                <a:latin typeface="Arial"/>
              </a:rPr>
              <a:t>a couple of for-profit chains are flagged ~100% of the time; non-profits almost never are.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It's a whole-hospital habit — flagged hospitals overcharge across nearly all their services, not just a few.</a:t>
            </a:r>
          </a:p>
        </p:txBody>
      </p:sp>
      <p:pic>
        <p:nvPicPr>
          <p:cNvPr id="6" name="Picture 5" descr="ch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Guide members to a cheaper, comparable hospital nearby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'Steering' means pointing members to a cheaper, comparable hospital — and it has to be realistically close.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9 of the 11 worst offenders, there's a cheaper, comparable hospital within ~40 miles (one saves 87%).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For 2, there's no nearby alternative — steering can't help there; you negotiate rates instead.</a:t>
            </a:r>
          </a:p>
        </p:txBody>
      </p:sp>
      <p:pic>
        <p:nvPicPr>
          <p:cNvPr id="6" name="Picture 5" descr="st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THE QUALITY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Paying more doesn't buy better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I added the government's hospital quality star ratings (public data).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Price and quality are unrelated </a:t>
            </a:r>
            <a:r>
              <a:rPr sz="1500" b="0">
                <a:solidFill>
                  <a:srgbClr val="3D3C38"/>
                </a:solidFill>
                <a:latin typeface="Arial"/>
              </a:rPr>
              <a:t>— and the most expensive hospitals actually rate the worst.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Most of our flagged hospitals are both expensive AND low-rated — steering away wins twice.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Two are expensive but genuinely excellent (Stanford, MLK) — the quality check keeps them off the avoid list.</a:t>
            </a:r>
          </a:p>
        </p:txBody>
      </p:sp>
      <p:pic>
        <p:nvPicPr>
          <p:cNvPr id="6" name="Picture 5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BONUS · WHAT DRIVES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Location, type of care, and ownership — not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What actually predicts a hospital's price: where it is, the type and complexity of care, and who owns it.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Hospital size doesn't matter — bigger isn't cheaper per service.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Three independent methods all agree on the top drivers, so we trust the ranking.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0">
                <a:solidFill>
                  <a:srgbClr val="3D3C38"/>
                </a:solidFill>
                <a:latin typeface="Arial"/>
              </a:rPr>
              <a:t>The model predicts a hospital's cost to within about $11k (roughly 22%).</a:t>
            </a:r>
          </a:p>
        </p:txBody>
      </p:sp>
      <p:pic>
        <p:nvPicPr>
          <p:cNvPr id="6" name="Picture 5" descr="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48640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HOW IT WAS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Two datasets, combined by the question — then supplemented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 core (the assignment): </a:t>
            </a:r>
            <a:r>
              <a:rPr sz="1500" b="0">
                <a:solidFill>
                  <a:srgbClr val="3D3C38"/>
                </a:solidFill>
                <a:latin typeface="Arial"/>
              </a:rPr>
              <a:t>two public datasets — every hospital's inpatient (hospital-stay) and outpatient costs. I used both, throughout.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Explored &amp; cleaned first: </a:t>
            </a:r>
            <a:r>
              <a:rPr sz="1500" b="0">
                <a:solidFill>
                  <a:srgbClr val="3D3C38"/>
                </a:solidFill>
                <a:latin typeface="Arial"/>
              </a:rPr>
              <a:t>I profiled every table up front — distributions, missing values, outliers — fixed file-format/encoding issues, dropped CMS-suppressed and unreliable rows, and caught a data artifact before it could mislead.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Combined several ways, depending on the question: </a:t>
            </a:r>
            <a:r>
              <a:rPr sz="1500" b="0">
                <a:solidFill>
                  <a:srgbClr val="3D3C38"/>
                </a:solidFill>
                <a:latin typeface="Arial"/>
              </a:rPr>
              <a:t>side-by-side per hospital (are hospitals pricey for stays also pricey outpatient? yes), pooled together for overall patterns, and blended into each hospital's 'care fingerprint' that defines the hospital families.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Then supplemented </a:t>
            </a:r>
            <a:r>
              <a:rPr sz="1500" b="0">
                <a:solidFill>
                  <a:srgbClr val="3D3C38"/>
                </a:solidFill>
                <a:latin typeface="Arial"/>
              </a:rPr>
              <a:t>with more government data to answer the harder, more interesting questions: ownership, rural-vs-urban, location/distance, and quality ratings.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500" b="1">
                <a:solidFill>
                  <a:srgbClr val="3D3C38"/>
                </a:solidFill>
                <a:latin typeface="Arial"/>
              </a:rPr>
              <a:t>Assumption + check: </a:t>
            </a:r>
            <a:r>
              <a:rPr sz="1500" b="0">
                <a:solidFill>
                  <a:srgbClr val="3D3C38"/>
                </a:solidFill>
                <a:latin typeface="Arial"/>
              </a:rPr>
              <a:t>list price as the affordability signal; and every headline finding repeats in the prior year — real patterns, not a one-year fluke.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HOW IT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AI-enabled analysis — a custom MCP server + an analyst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I built an MCP server (databench-mcp): </a:t>
            </a:r>
            <a:r>
              <a:rPr sz="1400" b="0">
                <a:solidFill>
                  <a:srgbClr val="3D3C38"/>
                </a:solidFill>
                <a:latin typeface="Arial"/>
              </a:rPr>
              <a:t>a guard-railed tool surface the AI operates — ingest, profile, explore, model, network-analyze, visualize — with discipline built in (profile before modeling, no leakage).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An analyst skill defined and required the process below: </a:t>
            </a:r>
            <a:r>
              <a:rPr sz="1400" b="0">
                <a:solidFill>
                  <a:srgbClr val="3D3C38"/>
                </a:solidFill>
                <a:latin typeface="Arial"/>
              </a:rPr>
              <a:t>nothing skipped or hand-waved; I set the hypotheses and corrected the approach when it was wrong.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Adversarially verified: </a:t>
            </a:r>
            <a:r>
              <a:rPr sz="1400" b="0">
                <a:solidFill>
                  <a:srgbClr val="3D3C38"/>
                </a:solidFill>
                <a:latin typeface="Arial"/>
              </a:rPr>
              <a:t>findings stay 'suspect' until they survive a refutation check — this caught a self-prediction (data-leakage) bug and a data artifact before either reached a conclusion.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400" b="1">
                <a:solidFill>
                  <a:srgbClr val="3D3C38"/>
                </a:solidFill>
                <a:latin typeface="Arial"/>
              </a:rPr>
              <a:t>Evidence-tracked &amp; self-improving: </a:t>
            </a:r>
            <a:r>
              <a:rPr sz="1400" b="0">
                <a:solidFill>
                  <a:srgbClr val="3D3C38"/>
                </a:solidFill>
                <a:latin typeface="Arial"/>
              </a:rPr>
              <a:t>18 of 18 conclusions trace to a logged result; the corrections become the tool's own to-do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3C38"/>
                </a:solidFill>
                <a:latin typeface="Arial"/>
              </a:rPr>
              <a:t>The process the skill enforced, every time: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228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Get &amp; clean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560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Test each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8924" y="5504688"/>
            <a:ext cx="256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612B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98380" y="5413248"/>
            <a:ext cx="1668780" cy="658368"/>
          </a:xfrm>
          <a:prstGeom prst="roundRect">
            <a:avLst/>
          </a:prstGeom>
          <a:solidFill>
            <a:srgbClr val="EDE8E0"/>
          </a:solidFill>
          <a:ln w="6350">
            <a:solidFill>
              <a:srgbClr val="ED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3D3C38"/>
                </a:solidFill>
                <a:latin typeface="Arial"/>
              </a:rPr>
              <a:t>Recommend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Where this goes next — with real plan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D3C38"/>
                </a:solidFill>
                <a:latin typeface="Arial"/>
              </a:rPr>
              <a:t>Analysis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669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Care quality: </a:t>
            </a:r>
            <a:r>
              <a:rPr sz="1300" b="0">
                <a:solidFill>
                  <a:srgbClr val="3D3C38"/>
                </a:solidFill>
                <a:latin typeface="Arial"/>
              </a:rPr>
              <a:t>do the factors that raise price also affect quality? Model both together.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Prove cause, </a:t>
            </a:r>
            <a:r>
              <a:rPr sz="1300" b="0">
                <a:solidFill>
                  <a:srgbClr val="3D3C38"/>
                </a:solidFill>
                <a:latin typeface="Arial"/>
              </a:rPr>
              <a:t>not just correlation.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Network-aware steering: </a:t>
            </a:r>
            <a:r>
              <a:rPr sz="1300" b="0">
                <a:solidFill>
                  <a:srgbClr val="3D3C38"/>
                </a:solidFill>
                <a:latin typeface="Arial"/>
              </a:rPr>
              <a:t>reachable, in-network, right service line, has capacity.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Real prices: </a:t>
            </a:r>
            <a:r>
              <a:rPr sz="1300" b="0">
                <a:solidFill>
                  <a:srgbClr val="3D3C38"/>
                </a:solidFill>
                <a:latin typeface="Arial"/>
              </a:rPr>
              <a:t>negotiated insurer rates and member claims (we used Medicare list prices).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Access &amp; equity: </a:t>
            </a:r>
            <a:r>
              <a:rPr sz="1300" b="0">
                <a:solidFill>
                  <a:srgbClr val="3D3C38"/>
                </a:solidFill>
                <a:latin typeface="Arial"/>
              </a:rPr>
              <a:t>don't steer a community away from its only nearby hospital.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Automate &amp; refresh: </a:t>
            </a:r>
            <a:r>
              <a:rPr sz="1300" b="0">
                <a:solidFill>
                  <a:srgbClr val="3D3C38"/>
                </a:solidFill>
                <a:latin typeface="Arial"/>
              </a:rPr>
              <a:t>rebuild each year on fresher location and ownership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D3C38"/>
                </a:solidFill>
                <a:latin typeface="Arial"/>
              </a:rPr>
              <a:t>Strengthen the AI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Expand the model set </a:t>
            </a:r>
            <a:r>
              <a:rPr sz="1300" b="0">
                <a:solidFill>
                  <a:srgbClr val="3D3C38"/>
                </a:solidFill>
                <a:latin typeface="Arial"/>
              </a:rPr>
              <a:t>— plus a skill that picks the right method(s) for each question.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Prevent repeat mistakes: </a:t>
            </a:r>
            <a:r>
              <a:rPr sz="1300" b="0">
                <a:solidFill>
                  <a:srgbClr val="3D3C38"/>
                </a:solidFill>
                <a:latin typeface="Arial"/>
              </a:rPr>
              <a:t>turn each correction into a guardrail.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Privacy &amp; compliance guardrails </a:t>
            </a:r>
            <a:r>
              <a:rPr sz="1300" b="0">
                <a:solidFill>
                  <a:srgbClr val="3D3C38"/>
                </a:solidFill>
                <a:latin typeface="Arial"/>
              </a:rPr>
              <a:t>(HIPAA / PHI, GDPR) built into the platform.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A shared knowledge base </a:t>
            </a:r>
            <a:r>
              <a:rPr sz="1300" b="0">
                <a:solidFill>
                  <a:srgbClr val="3D3C38"/>
                </a:solidFill>
                <a:latin typeface="Arial"/>
              </a:rPr>
              <a:t>(wiki) so the method and evidence are reusable.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What we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Build the network on cost AND quality, not cost alone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Start where a cheaper, better hospital already exists nearby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2000" b="1">
                <a:solidFill>
                  <a:srgbClr val="3D3C38"/>
                </a:solidFill>
                <a:latin typeface="Arial"/>
              </a:rPr>
              <a:t>Where there's no nearby option, negotiate rates 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D3C38"/>
                </a:solidFill>
                <a:latin typeface="Arial"/>
              </a:rPr>
              <a:t>Interactive leave-behind:  </a:t>
            </a:r>
            <a:r>
              <a:rPr sz="1400" b="0">
                <a:solidFill>
                  <a:srgbClr val="3D3C38"/>
                </a:solidFill>
                <a:latin typeface="Arial"/>
              </a:rPr>
              <a:t>bitsandbeakers.github.io/databench-mcp/uhc-affordability/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3D3C38"/>
                </a:solidFill>
                <a:latin typeface="Arial"/>
              </a:rPr>
              <a:t>Appendix — methods &amp;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94760"/>
            <a:ext cx="2743200" cy="91440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D3C38"/>
                </a:solidFill>
                <a:latin typeface="Arial"/>
              </a:rPr>
              <a:t>Technical backup — the same detail is also in the live dashboard's methods appendix.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DATA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Datasets, cleaning,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Core: </a:t>
            </a:r>
            <a:r>
              <a:rPr sz="1300" b="0">
                <a:solidFill>
                  <a:srgbClr val="3D3C38"/>
                </a:solidFill>
                <a:latin typeface="Arial"/>
              </a:rPr>
              <a:t>CMS Medicare Inpatient 146,427 provider×DRG + Outpatient 116,799 provider×APC; joined on CCN.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Combined four ways: </a:t>
            </a:r>
            <a:r>
              <a:rPr sz="1300" b="0">
                <a:solidFill>
                  <a:srgbClr val="3D3C38"/>
                </a:solidFill>
                <a:latin typeface="Arial"/>
              </a:rPr>
              <a:t>(1) separately at natural grain (within-DRG / within-APC outlier detection); (2) stacked long, ~210k rows (pooled cost-index, markup); (3) merged per-hospital, both settings (pricing-culture ρ=0.82, driver model); (4) a DRG+APC service-mix matrix (archetype network).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Cleaning: </a:t>
            </a:r>
            <a:r>
              <a:rPr sz="1300" b="0">
                <a:solidFill>
                  <a:srgbClr val="3D3C38"/>
                </a:solidFill>
                <a:latin typeface="Arial"/>
              </a:rPr>
              <a:t>Latin-1→UTF-8 re-encode, DECIMAL coercion, CCN zero-pad, RUCA=99 excluded, CMS cell-suppression noted, HCRIS total-margin artifact corrected.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Supplements (all CMS): </a:t>
            </a:r>
            <a:r>
              <a:rPr sz="1300" b="0">
                <a:solidFill>
                  <a:srgbClr val="3D3C38"/>
                </a:solidFill>
                <a:latin typeface="Arial"/>
              </a:rPr>
              <a:t>HCRIS cost report (ownership, margins), RUCA (urbanicity), public ZIP centroids (distance), Hospital Compare (quality stars).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Distribution: </a:t>
            </a:r>
            <a:r>
              <a:rPr sz="1300" b="0">
                <a:solidFill>
                  <a:srgbClr val="3D3C38"/>
                </a:solidFill>
                <a:latin typeface="Arial"/>
              </a:rPr>
              <a:t>submitted charge skew 12.5, kurtosis 535 → medians, logs and rank statistics throughout; never means/SD on raw dollars.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OUTLIER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Peer-relative, archetype-adjusted — in both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Service-grain: </a:t>
            </a:r>
            <a:r>
              <a:rPr sz="1300" b="0">
                <a:solidFill>
                  <a:srgbClr val="3D3C38"/>
                </a:solidFill>
                <a:latin typeface="Arial"/>
              </a:rPr>
              <a:t>flag providers in the top 5% of submitted charge within each DRG (inpatient) and APC (outpatient); rank by number of services flagged.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Defensible list: </a:t>
            </a:r>
            <a:r>
              <a:rPr sz="1300" b="0">
                <a:solidFill>
                  <a:srgbClr val="3D3C38"/>
                </a:solidFill>
                <a:latin typeface="Arial"/>
              </a:rPr>
              <a:t>normalize each charge to the national median for that service, then a within-archetype robust modified-z (median + MAD) ≥ 3.5.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Why archetype-adjusted: </a:t>
            </a:r>
            <a:r>
              <a:rPr sz="1300" b="0">
                <a:solidFill>
                  <a:srgbClr val="3D3C38"/>
                </a:solidFill>
                <a:latin typeface="Arial"/>
              </a:rPr>
              <a:t>raw within-service detection over-flags academic centers (genuine case-mix); archetype-relative drops Cedars-Sinai, keeps Stanford + the for-profit chains.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Repeat-offenders: </a:t>
            </a:r>
            <a:r>
              <a:rPr sz="1300" b="0">
                <a:solidFill>
                  <a:srgbClr val="3D3C38"/>
                </a:solidFill>
                <a:latin typeface="Arial"/>
              </a:rPr>
              <a:t>high-confidence outliers price ~95% of their service lines above the national 90th percentile — a hospital-wide posture.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82880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3135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Cut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Flagged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within-archetype p95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robust z ≥ 3.5 (high-conf)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plain-z ≥ 2 (foil)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chain: Capital Health / Carepoint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chain: HCA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independents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4.5%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SERVICE-MIX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Archetypes from how hospitals actually deliver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Construction: </a:t>
            </a:r>
            <a:r>
              <a:rPr sz="1300" b="0">
                <a:solidFill>
                  <a:srgbClr val="3D3C38"/>
                </a:solidFill>
                <a:latin typeface="Arial"/>
              </a:rPr>
              <a:t>each hospital = its DRG/APC service-mix vector (3,236 hospitals × 602 codes); cosine similarity → k-nearest-neighbour graph (k=10).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Communities: </a:t>
            </a:r>
            <a:r>
              <a:rPr sz="1300" b="0">
                <a:solidFill>
                  <a:srgbClr val="3D3C38"/>
                </a:solidFill>
                <a:latin typeface="Arial"/>
              </a:rPr>
              <a:t>Louvain detection → 14 communities at modularity 0.704 (strong separation); signature-service lift names them — academic/tertiary, generalist, surgical-specialty, rural, behavioral, rehab.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Cross-checks: </a:t>
            </a:r>
            <a:r>
              <a:rPr sz="1300" b="0">
                <a:solidFill>
                  <a:srgbClr val="3D3C38"/>
                </a:solidFill>
                <a:latin typeface="Arial"/>
              </a:rPr>
              <a:t>PCA (variance spread across many components) and k-means independently recover the coarse generalist-core / specialty-periphery structure — not a Louvain artifact.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Use: </a:t>
            </a:r>
            <a:r>
              <a:rPr sz="1300" b="0">
                <a:solidFill>
                  <a:srgbClr val="3D3C38"/>
                </a:solidFill>
                <a:latin typeface="Arial"/>
              </a:rPr>
              <a:t>archetype membership defines the peer set for the outlier and steerage analysis.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COST-DRIVER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Leakage-free, triangulated, decision-relevant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Design: </a:t>
            </a:r>
            <a:r>
              <a:rPr sz="1300" b="0">
                <a:solidFill>
                  <a:srgbClr val="3D3C38"/>
                </a:solidFill>
                <a:latin typeface="Arial"/>
              </a:rPr>
              <a:t>provider grain (n=2,933); a discharge-weighted case-mix index preserves the DRG signal without service-grain leakage.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Importance: </a:t>
            </a:r>
            <a:r>
              <a:rPr sz="1300" b="0">
                <a:solidFill>
                  <a:srgbClr val="3D3C38"/>
                </a:solidFill>
                <a:latin typeface="Arial"/>
              </a:rPr>
              <a:t>interventional SHAP + permutation + glass-box EBM agree and are seed-stable across 5 seeds: state &gt; case-mix &gt; ownership; volume negligible.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Metrics: </a:t>
            </a:r>
            <a:r>
              <a:rPr sz="1300" b="0">
                <a:solidFill>
                  <a:srgbClr val="3D3C38"/>
                </a:solidFill>
                <a:latin typeface="Arial"/>
              </a:rPr>
              <a:t>5-fold CV, reported as MAE + back-transformed dollar error — not R² alone (R² on a log target flatters fit).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00400"/>
          <a:ext cx="78638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572768"/>
                <a:gridCol w="1572768"/>
                <a:gridCol w="1572768"/>
                <a:gridCol w="1572768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Model (5-fold CV)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R²(log)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MAE(log)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$ median err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$ MdAPE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EBM (glass-box)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0.704 ± .015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0.270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$11,090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0.678 ± .029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0.281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$11,503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Lasso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0.584 ± .014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0.324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$13,592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D3C38"/>
                </a:solidFill>
                <a:latin typeface="Arial"/>
              </a:rPr>
              <a:t>Variance decomposition (η²): </a:t>
            </a:r>
            <a:r>
              <a:rPr sz="1200" b="0">
                <a:solidFill>
                  <a:srgbClr val="3D3C38"/>
                </a:solidFill>
                <a:latin typeface="Arial"/>
              </a:rPr>
              <a:t>log charge — DRG 0.578, state 0.180, urbanicity 0.040; log Medicare payment — DRG 0.869, state 0.054. Geography loads ~3× more on charges than on cost-based payment — the pricing-discretion signal.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FALSIFICATION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Pricing-not-cost, and cost vs quality uncorrelated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For-profit premium (nested OLS on log charge): </a:t>
            </a:r>
            <a:r>
              <a:rPr sz="1300" b="0">
                <a:solidFill>
                  <a:srgbClr val="3D3C38"/>
                </a:solidFill>
                <a:latin typeface="Arial"/>
              </a:rPr>
              <a:t>+62.5% raw → +46.3% under full controls (case-mix, archetype, urbanicity, state); nonprofit −33%, government −34% vs for-profit.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Falsification: </a:t>
            </a:r>
            <a:r>
              <a:rPr sz="1300" b="0">
                <a:solidFill>
                  <a:srgbClr val="3D3C38"/>
                </a:solidFill>
                <a:latin typeface="Arial"/>
              </a:rPr>
              <a:t>under identical controls, +45% on submitted charge but −9% on wage-index-adjusted Medicare payment → markup, not cost. Pricing culture transfers IP↔OP (Spearman 0.82).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Cost × quality (CMS Hospital Compare, n=2,616 rated): </a:t>
            </a:r>
            <a:r>
              <a:rPr sz="1300" b="0">
                <a:solidFill>
                  <a:srgbClr val="3D3C38"/>
                </a:solidFill>
                <a:latin typeface="Arial"/>
              </a:rPr>
              <a:t>Spearman(cost, star) = −0.03; mean star by cost band 3.15 / 3.26 / 3.22 / 2.74 — the very-pricey tier is only 25% 4–5★.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300" b="1">
                <a:solidFill>
                  <a:srgbClr val="3D3C38"/>
                </a:solidFill>
                <a:latin typeface="Arial"/>
              </a:rPr>
              <a:t>The 11 avoidances: </a:t>
            </a:r>
            <a:r>
              <a:rPr sz="1300" b="0">
                <a:solidFill>
                  <a:srgbClr val="3D3C38"/>
                </a:solidFill>
                <a:latin typeface="Arial"/>
              </a:rPr>
              <a:t>7 of 10 rated are 1–2★ (steer-away doubly justified); Stanford 5★ and MLK 4★ are the quality-gate exceptions.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109728"/>
          </a:xfrm>
          <a:prstGeom prst="rect">
            <a:avLst/>
          </a:prstGeom>
          <a:solidFill>
            <a:srgbClr val="FF6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D3C38"/>
                </a:solidFill>
                <a:latin typeface="Arial"/>
              </a:rPr>
              <a:t>APPENDIX · ROBUSTNESS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3D3C38"/>
                </a:solidFill>
                <a:latin typeface="Arial"/>
              </a:rPr>
              <a:t>Holds out-of-year (2022); honest limits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2657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Finding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AF8F2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3D3C3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Inpatient charge skew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11.4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12.5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Within-DRG dispersion (p90/p10)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3.63×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3.67×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Median markup — IP / OP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5.37× / 7.38×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5.52× / 7.62×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Non-metro vs metro (case-mix adj.)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−27.6%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−26.6%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IP↔OP pricing-culture (Spearman)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0.82</a:t>
                      </a:r>
                    </a:p>
                  </a:txBody>
                  <a:tcPr>
                    <a:solidFill>
                      <a:srgbClr val="FAF8F2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For-profit charge premium (median)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C38"/>
                          </a:solidFill>
                          <a:latin typeface="Arial"/>
                        </a:rPr>
                        <a:t>+49%</a:t>
                      </a:r>
                    </a:p>
                  </a:txBody>
                  <a:tcPr>
                    <a:solidFill>
                      <a:srgbClr val="EDE8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155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FF612B"/>
                </a:solidFill>
                <a:latin typeface="Arial"/>
              </a:rPr>
              <a:t>■  </a:t>
            </a:r>
            <a:r>
              <a:rPr sz="1200" b="1">
                <a:solidFill>
                  <a:srgbClr val="3D3C38"/>
                </a:solidFill>
                <a:latin typeface="Arial"/>
              </a:rPr>
              <a:t>Limits: </a:t>
            </a:r>
            <a:r>
              <a:rPr sz="1200" b="0">
                <a:solidFill>
                  <a:srgbClr val="3D3C38"/>
                </a:solidFill>
                <a:latin typeface="Arial"/>
              </a:rPr>
              <a:t>submitted charges, not negotiated commercial rates; Medicare data (commercial-to-Medicare ratios vary); 2013 ZIP vintage (93.6% geocoded); chain detection undercounts HCA (the effect is a lower bound); all effects associational (causal design framed, not run).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