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 hook: the same care, wildly different price. I'll give you the bottom line first, then the evidence. Data: public CMS Medicare hospital cost files (inpatient + outpatient), plus CMS ownership, rural/urban, location, and quality data. Audience note: keeping slides plain; happy to go as deep as you want on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remember one slide, this is it — four findings build to one action, impact up front. Technical backing for each, in order: (1) within-DRG charge dispersion, p90/p10 median 3.67×, max ~16× (DRG 470). (2) For-profit premium +45% on submitted charge vs −9% on wage-index-adjusted Medicare payment — a falsification test isolating pricing from cost. (3) Spearman(cost index, CMS star) = −0.03. (4) Quality-gated steerage. (5) $25.8B excess premium, $12.9B at 50% recovery; I show 25/50/100%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Insight Discovery, question 1 (cost variation across providers). Method: within-DRG dispersion so the procedure is held constant; median p90/p10 = 3.67×, 252/269 DRGs ≥3×. Worked example DRG 470 (major joint replacement), $19,972 → $315,717. Charges are skew-12.5, so everything uses medians/logs, never raw means. This is 'submitted charges' (the hospital's list price) — see the data slide for why that's the right signal for a %-of-charges payer.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acid test (falsification). Under identical controls the for-profit gap is +45% on submitted charge but −9% on formula-set Medicare payment. If it were genuine cost, the cost-based (wage-index-adjusted) Medicare payment would rise, not fall — so cost-of-living can't be the driver. Nested OLS on log charge; premium 62.5%→46.3% as controls are added. Pre-empts the obvious 'urban hospitals cost more' objection.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Insight Discovery, question 2 (regional patterns). State case-mix-adjusted charge index 0.35 (MD) → 2.14 (NV), ~6×. Maryland's all-payer rate-setting waiver is the natural experiment — lowest charges, highest regulated payment. In the driver model geography is 18% of charge variance vs only 5.4% of cost-based payment variance.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network-analytics centerpiece (role fit) — linger and demo the live dropdowns. Method: cosine similarity of each hospital's service-mix vector → k-nearest-neighbour graph → Louvain community detection, 14 communities at modularity 0.70. Archetype-relative comparison is what makes the outlier list defensible (drops Cedars-Sinai as 'expensive like its academic peers', keeps Stanford).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instruction 3 (outlier detection), explicitly in BOTH settings + patterns. Inpatient = within-DRG top-charge providers (h006: Stanford, Cedars, HCA); outpatient = within-APC (h007: same names). Patterns (h008): cluster by state (CA/NJ/FL) and for-profit chain — Capital Health &amp; Carepoint 100%, HCA 24% vs independents 4.5%. Repeat-offenders price ~95% of their service lines above the national 90th percentile.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Steerage is TOWARD a lower-cost comparable peer (corrected from 'away from'), and it's inherently local (40-mi great-circle from ZIP centroids as a drive-time proxy). 9/11 locally steerable; the 2 misses are a network-adequacy gap (199–345 mi), an honest finding. Production needs true drive-time + in-network + adequacy.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strongest finding — and it was in-scope public CMS data (Hospital Compare). Spearman(cost, star) = −0.03; the ≥2× cost tier averages 2.74★ vs ~3.2 elsewhere. 7 of 10 rated flagged hospitals are 1–2★. The gate correctly protects the high-quality expensive ones. Cost is necessary, not sufficient — this closes the 'cost-only steerage is unsafe' objection.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Bonus question (cost predictors). Triangulated importance — interventional SHAP + permutation + glass-box EBM — perfectly seed-stable: state &gt; case-mix &gt; ownership; volume negligible. Reported with 5-fold CV MAE + dollar error, not R² alone (R² on a log target flatters fit). EBM vs LightGBM overlap within ~1 SD. All associational.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instruction 1 (data understanding &amp; prep / INTEGRATION). The core ask was the inpatient + outpatient files — I used both, and combined them FOUR ways by analysis: (1) separately at natural grain (within-DRG inpatient + within-APC outpatient) for outlier detection; (2) stacked long (~210k rows) for pooled cost-index and markup; (3) merged per-hospital, both settings, for the pricing-culture correlation (IP vs OP charge index ρ=0.82) and the driver model; (4) a combined DRG+APC service-mix matrix for the archetype network. THEN supplemented with CMS HCRIS (ownership, rural margins → for-profit premium + rural exposure), RUCA (urbanicity), ZIP centroids (distance → in-market steerage), and Hospital Compare (quality). Cleaning: Latin-1→UTF-8, DECIMAL coercion, CCN key, RUCA=99 drop, cell-suppression noted, HCRIS margin fix. Stack: DuckDB, pandas, sklearn, statsmodels, plotly. Robustness = 2022 out-of-year holdout.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 line stays 'How it was built'; the differentiator is AI enablement. The step strip is plain-language but maps to CRISP-DM (Business + Data Understanding → Data Prep → Modeling → Evaluation → Deployment), enforced by the databench-analyst skill. Adversarial verification = findings default to suspect until they survive refutation (caught the charge-as-its-own-predictor leakage and the HCRIS total-margin artifact). 13-entry correction ledger; product-gap corrections become the tool's roadmap. If a technical interviewer wants the framework, CRISP-DM is the reference — happy to show the phase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Reorganized: Analysis &amp; data vs the AI platform (enablement) — model-selection, prevention, and the wiki are all enablement. Technical detail: quality = drivers-of-quality + a joint multivariate price×quality model (cost–quality efficiency frontier); cause = Double-ML / causal forest (HHI + wage-index confounders); network-aware = drive-time + CMS time/distance adequacy + in-network + service-line + capacity; real prices = Transparency-in-Coverage MRFs + plan claims; access &amp; equity = before down-tiering a community's only nearby hospital (the safety-net 'no local option' cases, e.g. MLK Jr), check the access impact; productionize = re-runnable recipe + drift monitoring, current ZIP/ZCTA + chain crosswalk + Critical Access Hospitals. AI platform: an expanded model library + a method-selection skill; a 'prevention' step that turns each correction into an automated guardrail (not just a tool fix); a knowledge-base wiki as institutional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Voice track (bullets are headlines only): (1) Cost-only steering can send members to cheap-but-bad hospitals — the quality gate prevents that. (2) Start with the overpriced, low-quality hospitals that already have a cheaper, higher-quality neighbor within ~40 miles — the fast wins. (3) For the markets with no nearby alternative (the 2 'no local option' cases), steering can't help — negotiate rates or redesign the network there. Close on action, not findings; point them to the live dashboard as the interactive leave-behind.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3D3C38"/>
                </a:solidFill>
                <a:latin typeface="Arial"/>
              </a:rPr>
              <a:t>Hospital Pricing &amp; Network Affordability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3D3C38"/>
                </a:solidFill>
                <a:latin typeface="Arial"/>
              </a:rPr>
              <a:t>What the same care costs across 3,236 hospitals — and what a health plan can do about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4160520"/>
            <a:ext cx="2926080" cy="91440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D3C38"/>
                </a:solidFill>
                <a:latin typeface="Arial"/>
              </a:rPr>
              <a:t>Medicare hospital cost data · an AI-enabled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D3C38"/>
                </a:solidFill>
                <a:latin typeface="Arial"/>
              </a:rPr>
              <a:t>THE 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3D3C38"/>
                </a:solidFill>
                <a:latin typeface="Arial"/>
              </a:rPr>
              <a:t>The same care can cost up to 16× more — and the gap is mostly pricing, not better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155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700" b="1">
                <a:solidFill>
                  <a:srgbClr val="3D3C38"/>
                </a:solidFill>
                <a:latin typeface="Arial"/>
              </a:rPr>
              <a:t>Wildly different prices. </a:t>
            </a:r>
            <a:r>
              <a:rPr sz="1700" b="0">
                <a:solidFill>
                  <a:srgbClr val="3D3C38"/>
                </a:solidFill>
                <a:latin typeface="Arial"/>
              </a:rPr>
              <a:t>The same hospital treatment can cost up to 16× more at one hospital than another.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700" b="1">
                <a:solidFill>
                  <a:srgbClr val="3D3C38"/>
                </a:solidFill>
                <a:latin typeface="Arial"/>
              </a:rPr>
              <a:t>It's how they price, not what care costs. </a:t>
            </a:r>
            <a:r>
              <a:rPr sz="1700" b="0">
                <a:solidFill>
                  <a:srgbClr val="3D3C38"/>
                </a:solidFill>
                <a:latin typeface="Arial"/>
              </a:rPr>
              <a:t>For-profit hospitals charge ~45% more — yet Medicare pays them slightly less. So it's a pricing choice, not higher costs.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700" b="1">
                <a:solidFill>
                  <a:srgbClr val="3D3C38"/>
                </a:solidFill>
                <a:latin typeface="Arial"/>
              </a:rPr>
              <a:t>Paying more doesn't buy better care. </a:t>
            </a:r>
            <a:r>
              <a:rPr sz="1700" b="0">
                <a:solidFill>
                  <a:srgbClr val="3D3C38"/>
                </a:solidFill>
                <a:latin typeface="Arial"/>
              </a:rPr>
              <a:t>Price and hospital quality ratings have no relationship — and the most expensive hospitals tend to rate the worst.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700" b="1">
                <a:solidFill>
                  <a:srgbClr val="3D3C38"/>
                </a:solidFill>
                <a:latin typeface="Arial"/>
              </a:rPr>
              <a:t>The opportunity. </a:t>
            </a:r>
            <a:r>
              <a:rPr sz="1700" b="0">
                <a:solidFill>
                  <a:srgbClr val="3D3C38"/>
                </a:solidFill>
                <a:latin typeface="Arial"/>
              </a:rPr>
              <a:t>Guide members to hospitals that are both cheaper and higher-quality (738 qualify).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700" b="1">
                <a:solidFill>
                  <a:srgbClr val="3D3C38"/>
                </a:solidFill>
                <a:latin typeface="Arial"/>
              </a:rPr>
              <a:t>The size. </a:t>
            </a:r>
            <a:r>
              <a:rPr sz="1700" b="0">
                <a:solidFill>
                  <a:srgbClr val="3D3C38"/>
                </a:solidFill>
                <a:latin typeface="Arial"/>
              </a:rPr>
              <a:t>On for-profit hospitals alone, the overcharge is roughly $6–26 billion.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806440"/>
            <a:ext cx="11064240" cy="731520"/>
          </a:xfrm>
          <a:prstGeom prst="round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3D3C38"/>
                </a:solidFill>
                <a:latin typeface="Arial"/>
              </a:rPr>
              <a:t>RECOMMENDATION:  </a:t>
            </a:r>
            <a:r>
              <a:rPr sz="1500" b="0">
                <a:solidFill>
                  <a:srgbClr val="3D3C38"/>
                </a:solidFill>
                <a:latin typeface="Arial"/>
              </a:rPr>
              <a:t>build the network around hospitals that are both affordable and high-quality — start where a cheaper, better option is already nearby.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D3C38"/>
                </a:solidFill>
                <a:latin typeface="Arial"/>
              </a:rPr>
              <a:t>FINDING 1 · PRICE VARIES WILDLY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3D3C38"/>
                </a:solidFill>
                <a:latin typeface="Arial"/>
              </a:rPr>
              <a:t>The same procedure, very different price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1">
                <a:solidFill>
                  <a:srgbClr val="3D3C38"/>
                </a:solidFill>
                <a:latin typeface="Arial"/>
              </a:rPr>
              <a:t>The question: </a:t>
            </a:r>
            <a:r>
              <a:rPr sz="1500" b="0">
                <a:solidFill>
                  <a:srgbClr val="3D3C38"/>
                </a:solidFill>
                <a:latin typeface="Arial"/>
              </a:rPr>
              <a:t>which treatments vary most in price between hospitals?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For the same treatment, the priciest hospitals charge at least 3× more than the cheapest — true for 94% of common treatments.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The most extreme: a hip/knee replacement ran from about $20k to $316k — same surgery.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It's the hospital you walk into, not the care, that drives the difference.</a:t>
            </a:r>
          </a:p>
        </p:txBody>
      </p:sp>
      <p:pic>
        <p:nvPicPr>
          <p:cNvPr id="6" name="Picture 5" descr="disp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486400" cy="3413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D3C38"/>
                </a:solidFill>
                <a:latin typeface="Arial"/>
              </a:rPr>
              <a:t>WHY — THE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3D3C38"/>
                </a:solidFill>
                <a:latin typeface="Arial"/>
              </a:rPr>
              <a:t>It's a pricing choice, not a cost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For-profit hospitals charge about 45% more than others for comparable care — even after accounting for how sick patients are, where the hospital is, and what kind of hospital it is.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1">
                <a:solidFill>
                  <a:srgbClr val="3D3C38"/>
                </a:solidFill>
                <a:latin typeface="Arial"/>
              </a:rPr>
              <a:t>The tell: </a:t>
            </a:r>
            <a:r>
              <a:rPr sz="1500" b="0">
                <a:solidFill>
                  <a:srgbClr val="3D3C38"/>
                </a:solidFill>
                <a:latin typeface="Arial"/>
              </a:rPr>
              <a:t>Medicare pays those same hospitals slightly LESS, not more.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Medicare's payment already adjusts for local labor costs — so 'things just cost more here' can't explain the gap.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This only hurts an insurer that pays a share of the hospital's list price.</a:t>
            </a:r>
          </a:p>
        </p:txBody>
      </p:sp>
      <p:pic>
        <p:nvPicPr>
          <p:cNvPr id="6" name="Picture 5" descr="fals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486400" cy="3413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D3C38"/>
                </a:solidFill>
                <a:latin typeface="Arial"/>
              </a:rPr>
              <a:t>FINDING 2 · GEOGRAPHY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3D3C38"/>
                </a:solidFill>
                <a:latin typeface="Arial"/>
              </a:rPr>
              <a:t>Where you are matters — a 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1">
                <a:solidFill>
                  <a:srgbClr val="3D3C38"/>
                </a:solidFill>
                <a:latin typeface="Arial"/>
              </a:rPr>
              <a:t>The question: </a:t>
            </a:r>
            <a:r>
              <a:rPr sz="1500" b="0">
                <a:solidFill>
                  <a:srgbClr val="3D3C38"/>
                </a:solidFill>
                <a:latin typeface="Arial"/>
              </a:rPr>
              <a:t>do prices follow a regional pattern?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Yes — the most expensive states charge about 6× more than the cheapest for the same care.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Maryland, which regulates hospital rates, is the cheapest; Nevada, California, New Jersey and Florida are the priciest.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Same treatment, very different price depending on the market.</a:t>
            </a:r>
          </a:p>
        </p:txBody>
      </p:sp>
      <p:pic>
        <p:nvPicPr>
          <p:cNvPr id="6" name="Picture 5" descr="st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486400" cy="3413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D3C38"/>
                </a:solidFill>
                <a:latin typeface="Arial"/>
              </a:rPr>
              <a:t>COMPARING FAIRLY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3D3C38"/>
                </a:solidFill>
                <a:latin typeface="Arial"/>
              </a:rPr>
              <a:t>I group hospitals by the kind of care they actually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I sorted all 3,236 hospitals into families by the mix of care they deliver — academic medical centers, community hospitals, surgical specialty centers, rural hospitals, and so on.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The groups came out of the data automatically — not hand-picked.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1">
                <a:solidFill>
                  <a:srgbClr val="3D3C38"/>
                </a:solidFill>
                <a:latin typeface="Arial"/>
              </a:rPr>
              <a:t>Why it matters: </a:t>
            </a:r>
            <a:r>
              <a:rPr sz="1500" b="0">
                <a:solidFill>
                  <a:srgbClr val="3D3C38"/>
                </a:solidFill>
                <a:latin typeface="Arial"/>
              </a:rPr>
              <a:t>I compare each hospital only to its true peers, so 'our patients are just sicker' doesn't hold up.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In the live dashboard you can pick a hospital type and see the flagged ones.</a:t>
            </a:r>
          </a:p>
        </p:txBody>
      </p:sp>
      <p:pic>
        <p:nvPicPr>
          <p:cNvPr id="6" name="Picture 5" descr="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48640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D3C38"/>
                </a:solidFill>
                <a:latin typeface="Arial"/>
              </a:rPr>
              <a:t>THE OVERCHARGERS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3D3C38"/>
                </a:solidFill>
                <a:latin typeface="Arial"/>
              </a:rPr>
              <a:t>Which hospitals charge far more than their peers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I flagged hospitals that charge far above their true peers — in both hospital stays and outpatient care.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The same names show up in both: a handful of for-profit chains, plus a few high-end academic centers.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1">
                <a:solidFill>
                  <a:srgbClr val="3D3C38"/>
                </a:solidFill>
                <a:latin typeface="Arial"/>
              </a:rPr>
              <a:t>They cluster: </a:t>
            </a:r>
            <a:r>
              <a:rPr sz="1500" b="0">
                <a:solidFill>
                  <a:srgbClr val="3D3C38"/>
                </a:solidFill>
                <a:latin typeface="Arial"/>
              </a:rPr>
              <a:t>a couple of for-profit chains are flagged ~100% of the time; non-profits almost never are.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It's a whole-hospital habit — flagged hospitals overcharge across nearly all their services, not just a few.</a:t>
            </a:r>
          </a:p>
        </p:txBody>
      </p:sp>
      <p:pic>
        <p:nvPicPr>
          <p:cNvPr id="6" name="Picture 5" descr="cha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486400" cy="3413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D3C38"/>
                </a:solidFill>
                <a:latin typeface="Arial"/>
              </a:rPr>
              <a:t>THE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3D3C38"/>
                </a:solidFill>
                <a:latin typeface="Arial"/>
              </a:rPr>
              <a:t>Guide members to a cheaper, comparable hospital nearby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'Steering' means pointing members to a cheaper, comparable hospital — and it has to be realistically close.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For 9 of the 11 worst offenders, there's a cheaper, comparable hospital within ~40 miles (one saves 87%).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For 2, there's no nearby alternative — steering can't help there; you negotiate rates instead.</a:t>
            </a:r>
          </a:p>
        </p:txBody>
      </p:sp>
      <p:pic>
        <p:nvPicPr>
          <p:cNvPr id="6" name="Picture 5" descr="ste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486400" cy="30723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D3C38"/>
                </a:solidFill>
                <a:latin typeface="Arial"/>
              </a:rPr>
              <a:t>THE QUALITY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3D3C38"/>
                </a:solidFill>
                <a:latin typeface="Arial"/>
              </a:rPr>
              <a:t>Paying more doesn't buy better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I added the government's hospital quality star ratings (public data).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1">
                <a:solidFill>
                  <a:srgbClr val="3D3C38"/>
                </a:solidFill>
                <a:latin typeface="Arial"/>
              </a:rPr>
              <a:t>Price and quality are unrelated </a:t>
            </a:r>
            <a:r>
              <a:rPr sz="1500" b="0">
                <a:solidFill>
                  <a:srgbClr val="3D3C38"/>
                </a:solidFill>
                <a:latin typeface="Arial"/>
              </a:rPr>
              <a:t>— and the most expensive hospitals actually rate the worst.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Most of our flagged hospitals are both expensive AND low-rated — steering away wins twice.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Two are expensive but genuinely excellent (Stanford, MLK) — the quality check keeps them off the avoid list.</a:t>
            </a:r>
          </a:p>
        </p:txBody>
      </p:sp>
      <p:pic>
        <p:nvPicPr>
          <p:cNvPr id="6" name="Picture 5" descr="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486400" cy="30723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D3C38"/>
                </a:solidFill>
                <a:latin typeface="Arial"/>
              </a:rPr>
              <a:t>BONUS · WHAT DRIVES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3D3C38"/>
                </a:solidFill>
                <a:latin typeface="Arial"/>
              </a:rPr>
              <a:t>Location, type of care, and ownership — not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What actually predicts a hospital's price: where it is, the type and complexity of care, and who owns it.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Hospital size doesn't matter — bigger isn't cheaper per service.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Three independent methods all agree on the top drivers, so we trust the ranking.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The model predicts a hospital's cost to within about $11k (roughly 22%).</a:t>
            </a:r>
          </a:p>
        </p:txBody>
      </p:sp>
      <p:pic>
        <p:nvPicPr>
          <p:cNvPr id="6" name="Picture 5" descr="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486400" cy="3413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D3C38"/>
                </a:solidFill>
                <a:latin typeface="Arial"/>
              </a:rPr>
              <a:t>HOW IT WAS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3D3C38"/>
                </a:solidFill>
                <a:latin typeface="Arial"/>
              </a:rPr>
              <a:t>Two datasets, combined by the question — then supplemented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155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1">
                <a:solidFill>
                  <a:srgbClr val="3D3C38"/>
                </a:solidFill>
                <a:latin typeface="Arial"/>
              </a:rPr>
              <a:t>The core (the assignment): </a:t>
            </a:r>
            <a:r>
              <a:rPr sz="1500" b="0">
                <a:solidFill>
                  <a:srgbClr val="3D3C38"/>
                </a:solidFill>
                <a:latin typeface="Arial"/>
              </a:rPr>
              <a:t>two public datasets — every hospital's inpatient (hospital-stay) and outpatient costs. I used both, throughout.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1">
                <a:solidFill>
                  <a:srgbClr val="3D3C38"/>
                </a:solidFill>
                <a:latin typeface="Arial"/>
              </a:rPr>
              <a:t>Explored &amp; cleaned first: </a:t>
            </a:r>
            <a:r>
              <a:rPr sz="1500" b="0">
                <a:solidFill>
                  <a:srgbClr val="3D3C38"/>
                </a:solidFill>
                <a:latin typeface="Arial"/>
              </a:rPr>
              <a:t>I profiled every table up front — distributions, missing values, outliers — fixed file-format/encoding issues, dropped CMS-suppressed and unreliable rows, and caught a data artifact before it could mislead.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1">
                <a:solidFill>
                  <a:srgbClr val="3D3C38"/>
                </a:solidFill>
                <a:latin typeface="Arial"/>
              </a:rPr>
              <a:t>Combined several ways, depending on the question: </a:t>
            </a:r>
            <a:r>
              <a:rPr sz="1500" b="0">
                <a:solidFill>
                  <a:srgbClr val="3D3C38"/>
                </a:solidFill>
                <a:latin typeface="Arial"/>
              </a:rPr>
              <a:t>side-by-side per hospital (are hospitals pricey for stays also pricey outpatient? yes), pooled together for overall patterns, and blended into each hospital's 'care fingerprint' that defines the hospital families.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1">
                <a:solidFill>
                  <a:srgbClr val="3D3C38"/>
                </a:solidFill>
                <a:latin typeface="Arial"/>
              </a:rPr>
              <a:t>Then supplemented </a:t>
            </a:r>
            <a:r>
              <a:rPr sz="1500" b="0">
                <a:solidFill>
                  <a:srgbClr val="3D3C38"/>
                </a:solidFill>
                <a:latin typeface="Arial"/>
              </a:rPr>
              <a:t>with more government data to answer the harder, more interesting questions: ownership, rural-vs-urban, location/distance, and quality ratings.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1">
                <a:solidFill>
                  <a:srgbClr val="3D3C38"/>
                </a:solidFill>
                <a:latin typeface="Arial"/>
              </a:rPr>
              <a:t>Assumption + check: </a:t>
            </a:r>
            <a:r>
              <a:rPr sz="1500" b="0">
                <a:solidFill>
                  <a:srgbClr val="3D3C38"/>
                </a:solidFill>
                <a:latin typeface="Arial"/>
              </a:rPr>
              <a:t>list price as the affordability signal; and every headline finding repeats in the prior year — real patterns, not a one-year fluke.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D3C38"/>
                </a:solidFill>
                <a:latin typeface="Arial"/>
              </a:rPr>
              <a:t>HOW IT WAS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3D3C38"/>
                </a:solidFill>
                <a:latin typeface="Arial"/>
              </a:rPr>
              <a:t>AI-enabled analysis — a custom MCP server + an analyst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155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400" b="1">
                <a:solidFill>
                  <a:srgbClr val="3D3C38"/>
                </a:solidFill>
                <a:latin typeface="Arial"/>
              </a:rPr>
              <a:t>I built an MCP server (databench-mcp): </a:t>
            </a:r>
            <a:r>
              <a:rPr sz="1400" b="0">
                <a:solidFill>
                  <a:srgbClr val="3D3C38"/>
                </a:solidFill>
                <a:latin typeface="Arial"/>
              </a:rPr>
              <a:t>a guard-railed tool surface the AI operates — ingest, profile, explore, model, network-analyze, visualize — with discipline built in (profile before modeling, no leakage).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400" b="1">
                <a:solidFill>
                  <a:srgbClr val="3D3C38"/>
                </a:solidFill>
                <a:latin typeface="Arial"/>
              </a:rPr>
              <a:t>An analyst skill defined and required the process below: </a:t>
            </a:r>
            <a:r>
              <a:rPr sz="1400" b="0">
                <a:solidFill>
                  <a:srgbClr val="3D3C38"/>
                </a:solidFill>
                <a:latin typeface="Arial"/>
              </a:rPr>
              <a:t>nothing skipped or hand-waved; I set the hypotheses and corrected the approach when it was wrong.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400" b="1">
                <a:solidFill>
                  <a:srgbClr val="3D3C38"/>
                </a:solidFill>
                <a:latin typeface="Arial"/>
              </a:rPr>
              <a:t>Adversarially verified: </a:t>
            </a:r>
            <a:r>
              <a:rPr sz="1400" b="0">
                <a:solidFill>
                  <a:srgbClr val="3D3C38"/>
                </a:solidFill>
                <a:latin typeface="Arial"/>
              </a:rPr>
              <a:t>findings stay 'suspect' until they survive a refutation check — this caught a self-prediction (data-leakage) bug and a data artifact before either reached a conclusion.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400" b="1">
                <a:solidFill>
                  <a:srgbClr val="3D3C38"/>
                </a:solidFill>
                <a:latin typeface="Arial"/>
              </a:rPr>
              <a:t>Evidence-tracked &amp; self-improving: </a:t>
            </a:r>
            <a:r>
              <a:rPr sz="1400" b="0">
                <a:solidFill>
                  <a:srgbClr val="3D3C38"/>
                </a:solidFill>
                <a:latin typeface="Arial"/>
              </a:rPr>
              <a:t>18 of 18 conclusions trace to a logged result; the corrections become the tool's own to-do list.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D3C38"/>
                </a:solidFill>
                <a:latin typeface="Arial"/>
              </a:rPr>
              <a:t>The process the skill enforced, every time: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413248"/>
            <a:ext cx="1668780" cy="658368"/>
          </a:xfrm>
          <a:prstGeom prst="roundRect">
            <a:avLst/>
          </a:prstGeom>
          <a:solidFill>
            <a:srgbClr val="EDE8E0"/>
          </a:solidFill>
          <a:ln w="6350">
            <a:solidFill>
              <a:srgbClr val="ED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3D3C38"/>
                </a:solidFill>
                <a:latin typeface="Arial"/>
              </a:rPr>
              <a:t>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72284" y="5504688"/>
            <a:ext cx="2560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612B"/>
                </a:solidFill>
                <a:latin typeface="Arial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91739" y="5413248"/>
            <a:ext cx="1668780" cy="658368"/>
          </a:xfrm>
          <a:prstGeom prst="roundRect">
            <a:avLst/>
          </a:prstGeom>
          <a:solidFill>
            <a:srgbClr val="EDE8E0"/>
          </a:solidFill>
          <a:ln w="6350">
            <a:solidFill>
              <a:srgbClr val="ED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3D3C38"/>
                </a:solidFill>
                <a:latin typeface="Arial"/>
              </a:rPr>
              <a:t>Get &amp; clean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23944" y="5504688"/>
            <a:ext cx="2560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612B"/>
                </a:solidFill>
                <a:latin typeface="Arial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5413248"/>
            <a:ext cx="1668780" cy="658368"/>
          </a:xfrm>
          <a:prstGeom prst="roundRect">
            <a:avLst/>
          </a:prstGeom>
          <a:solidFill>
            <a:srgbClr val="EDE8E0"/>
          </a:solidFill>
          <a:ln w="6350">
            <a:solidFill>
              <a:srgbClr val="ED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3D3C38"/>
                </a:solidFill>
                <a:latin typeface="Arial"/>
              </a:rPr>
              <a:t>Explore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5604" y="5504688"/>
            <a:ext cx="2560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612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5060" y="5413248"/>
            <a:ext cx="1668780" cy="658368"/>
          </a:xfrm>
          <a:prstGeom prst="roundRect">
            <a:avLst/>
          </a:prstGeom>
          <a:solidFill>
            <a:srgbClr val="EDE8E0"/>
          </a:solidFill>
          <a:ln w="6350">
            <a:solidFill>
              <a:srgbClr val="ED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3D3C38"/>
                </a:solidFill>
                <a:latin typeface="Arial"/>
              </a:rPr>
              <a:t>Test each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7264" y="5504688"/>
            <a:ext cx="2560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612B"/>
                </a:solidFill>
                <a:latin typeface="Arial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5413248"/>
            <a:ext cx="1668780" cy="658368"/>
          </a:xfrm>
          <a:prstGeom prst="roundRect">
            <a:avLst/>
          </a:prstGeom>
          <a:solidFill>
            <a:srgbClr val="EDE8E0"/>
          </a:solidFill>
          <a:ln w="6350">
            <a:solidFill>
              <a:srgbClr val="ED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3D3C38"/>
                </a:solidFill>
                <a:latin typeface="Arial"/>
              </a:rPr>
              <a:t>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78924" y="5504688"/>
            <a:ext cx="2560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612B"/>
                </a:solidFill>
                <a:latin typeface="Arial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98380" y="5413248"/>
            <a:ext cx="1668780" cy="658368"/>
          </a:xfrm>
          <a:prstGeom prst="roundRect">
            <a:avLst/>
          </a:prstGeom>
          <a:solidFill>
            <a:srgbClr val="EDE8E0"/>
          </a:solidFill>
          <a:ln w="6350">
            <a:solidFill>
              <a:srgbClr val="ED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3D3C38"/>
                </a:solidFill>
                <a:latin typeface="Arial"/>
              </a:rPr>
              <a:t>Recommend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D3C38"/>
                </a:solidFill>
                <a:latin typeface="Arial"/>
              </a:rPr>
              <a:t>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3D3C38"/>
                </a:solidFill>
                <a:latin typeface="Arial"/>
              </a:rPr>
              <a:t>Where this goes next — with real plan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D3C38"/>
                </a:solidFill>
                <a:latin typeface="Arial"/>
              </a:rPr>
              <a:t>Analysis &amp;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5669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Care quality: </a:t>
            </a:r>
            <a:r>
              <a:rPr sz="1300" b="0">
                <a:solidFill>
                  <a:srgbClr val="3D3C38"/>
                </a:solidFill>
                <a:latin typeface="Arial"/>
              </a:rPr>
              <a:t>do the factors that raise price also affect quality? Model both together.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Prove cause, </a:t>
            </a:r>
            <a:r>
              <a:rPr sz="1300" b="0">
                <a:solidFill>
                  <a:srgbClr val="3D3C38"/>
                </a:solidFill>
                <a:latin typeface="Arial"/>
              </a:rPr>
              <a:t>not just correlation.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Network-aware steering: </a:t>
            </a:r>
            <a:r>
              <a:rPr sz="1300" b="0">
                <a:solidFill>
                  <a:srgbClr val="3D3C38"/>
                </a:solidFill>
                <a:latin typeface="Arial"/>
              </a:rPr>
              <a:t>reachable, in-network, right service line, has capacity.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Real prices: </a:t>
            </a:r>
            <a:r>
              <a:rPr sz="1300" b="0">
                <a:solidFill>
                  <a:srgbClr val="3D3C38"/>
                </a:solidFill>
                <a:latin typeface="Arial"/>
              </a:rPr>
              <a:t>negotiated insurer rates and member claims (we used Medicare list prices).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Access &amp; equity: </a:t>
            </a:r>
            <a:r>
              <a:rPr sz="1300" b="0">
                <a:solidFill>
                  <a:srgbClr val="3D3C38"/>
                </a:solidFill>
                <a:latin typeface="Arial"/>
              </a:rPr>
              <a:t>don't steer a community away from its only nearby hospital.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Automate &amp; refresh: </a:t>
            </a:r>
            <a:r>
              <a:rPr sz="1300" b="0">
                <a:solidFill>
                  <a:srgbClr val="3D3C38"/>
                </a:solidFill>
                <a:latin typeface="Arial"/>
              </a:rPr>
              <a:t>rebuild each year on fresher location and ownership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D3C38"/>
                </a:solidFill>
                <a:latin typeface="Arial"/>
              </a:rPr>
              <a:t>Strengthen the AI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9659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Expand the model set </a:t>
            </a:r>
            <a:r>
              <a:rPr sz="1300" b="0">
                <a:solidFill>
                  <a:srgbClr val="3D3C38"/>
                </a:solidFill>
                <a:latin typeface="Arial"/>
              </a:rPr>
              <a:t>— plus a skill that picks the right method(s) for each question.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Prevent repeat mistakes: </a:t>
            </a:r>
            <a:r>
              <a:rPr sz="1300" b="0">
                <a:solidFill>
                  <a:srgbClr val="3D3C38"/>
                </a:solidFill>
                <a:latin typeface="Arial"/>
              </a:rPr>
              <a:t>turn each correction into a guardrail.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Privacy &amp; compliance guardrails </a:t>
            </a:r>
            <a:r>
              <a:rPr sz="1300" b="0">
                <a:solidFill>
                  <a:srgbClr val="3D3C38"/>
                </a:solidFill>
                <a:latin typeface="Arial"/>
              </a:rPr>
              <a:t>(HIPAA / PHI, GDPR) built into the platform.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A shared knowledge base </a:t>
            </a:r>
            <a:r>
              <a:rPr sz="1300" b="0">
                <a:solidFill>
                  <a:srgbClr val="3D3C38"/>
                </a:solidFill>
                <a:latin typeface="Arial"/>
              </a:rPr>
              <a:t>(wiki) so the method and evidence are reusable.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D3C38"/>
                </a:solidFill>
                <a:latin typeface="Arial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3D3C38"/>
                </a:solidFill>
                <a:latin typeface="Arial"/>
              </a:rPr>
              <a:t>What we can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155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2000" b="1">
                <a:solidFill>
                  <a:srgbClr val="3D3C38"/>
                </a:solidFill>
                <a:latin typeface="Arial"/>
              </a:rPr>
              <a:t>Build the network on cost AND quality, not cost alone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2000" b="1">
                <a:solidFill>
                  <a:srgbClr val="3D3C38"/>
                </a:solidFill>
                <a:latin typeface="Arial"/>
              </a:rPr>
              <a:t>Start where a cheaper, better hospital already exists nearby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2000" b="1">
                <a:solidFill>
                  <a:srgbClr val="3D3C38"/>
                </a:solidFill>
                <a:latin typeface="Arial"/>
              </a:rPr>
              <a:t>Where there's no nearby option, negotiate rates instead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D3C38"/>
                </a:solidFill>
                <a:latin typeface="Arial"/>
              </a:rPr>
              <a:t>Interactive leave-behind:  </a:t>
            </a:r>
            <a:r>
              <a:rPr sz="1400" b="0">
                <a:solidFill>
                  <a:srgbClr val="3D3C38"/>
                </a:solidFill>
                <a:latin typeface="Arial"/>
              </a:rPr>
              <a:t>bitsandbeakers.github.io/databench-mcp/uhc-affordability/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